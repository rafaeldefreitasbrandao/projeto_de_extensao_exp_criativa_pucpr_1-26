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60" r:id="rId8"/>
    <p:sldId id="287" r:id="rId9"/>
    <p:sldId id="286" r:id="rId10"/>
    <p:sldId id="288" r:id="rId11"/>
    <p:sldId id="289" r:id="rId12"/>
    <p:sldId id="290" r:id="rId13"/>
    <p:sldId id="269" r:id="rId14"/>
    <p:sldId id="291" r:id="rId1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91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79570A7-61B4-4947-9AB6-09C34E7B5431}" type="datetime1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31430A-4AA4-45C8-AC23-CD6B61C41A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E2B3A3E-896F-4356-A365-91BFCAA42630}" type="datetime1">
              <a:rPr lang="pt-BR" noProof="0" smtClean="0"/>
              <a:t>15/06/2026</a:t>
            </a:fld>
            <a:endParaRPr lang="pt-BR" noProof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4D747-9380-41EE-9946-EC9EC0CA5D1E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39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81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578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96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00D2-8D3E-7391-5B12-56FD440A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9989C38B-535A-80C1-EE96-FC2E09B6D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3517268-F121-9EF2-190A-75043F4A6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715F2C2-F0E8-1EA2-AF93-C5068D8CA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9493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7A3B5-5FF8-B781-69CC-83327832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C9D9785A-048B-2576-C4F5-E77932701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5A3314-893A-09C7-D3EE-9316A2361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3F02BB6-A9F9-7B29-805E-A6263416A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444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2AA2-890C-16E1-E166-C4FE3648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4AA7E5A4-788E-90F2-BB80-FC35C697C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EC19A5C-0D0F-0E55-1039-247C6A36E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08C92C2-AA18-290F-ACA6-B1BE51D29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8017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D9883-4228-F705-99A4-07B5E313A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460571F6-BB41-F3CF-DCAD-08D82AE5D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5B3F593-8BDF-4A6B-401B-79C34C608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AEF7B71-9112-17CD-3772-FB30A44DB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5134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85AFB-DAEE-2C0A-9C32-4CADAC9E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18DE6D7C-A7EF-8127-9821-999B0B32D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9FF4DE-9FED-A1C0-081B-CDE48BA9A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2B53482-26F1-8E64-D59D-8B084A779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61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186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B969B-C2E0-624E-34C4-760AE8E36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3671BA3C-B34A-9C24-4921-AA2296317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B23EA2A-BFFE-A2A3-D7CA-721D30CFA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F1343A0-66C8-E888-CA40-0E8E7E74A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90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7" name="Triângulo Reto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8" name="Triângulo Reto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9" name="Triângulo Reto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</p:grpSp>
        <p:sp>
          <p:nvSpPr>
            <p:cNvPr id="9" name="Forma livre: Forma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 noProof="0"/>
            </a:p>
          </p:txBody>
        </p:sp>
        <p:sp>
          <p:nvSpPr>
            <p:cNvPr id="11" name="Forma livre: Forma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  <p:sp>
            <p:nvSpPr>
              <p:cNvPr id="14" name="Forma livre: Forma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pt-BR" noProof="0"/>
              <a:t>Clique para editar o estilo de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Triângulo Reto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pt-BR" noProof="0"/>
              <a:t>Editar estilos de texto Mestre</a:t>
            </a:r>
          </a:p>
        </p:txBody>
      </p:sp>
      <p:sp>
        <p:nvSpPr>
          <p:cNvPr id="22" name="Espaço Reservado para o Número do Slide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 da Seção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 noProof="0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 noProof="0"/>
            </a:p>
          </p:txBody>
        </p:sp>
      </p:grp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 da Seção 01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pt-BR" noProof="0"/>
              <a:t>Editar estilos de texto Mestre</a:t>
            </a:r>
          </a:p>
        </p:txBody>
      </p:sp>
      <p:sp>
        <p:nvSpPr>
          <p:cNvPr id="35" name="Espaço Reservado para o Número do Slide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pt-BR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Citação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estilo de título Mestre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500" y="1625385"/>
            <a:ext cx="6718300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estilo de título Mestre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tângulo: Canto Único Recortado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pt-BR" noProof="0"/>
            </a:p>
          </p:txBody>
        </p:sp>
        <p:sp>
          <p:nvSpPr>
            <p:cNvPr id="3" name="Retângulo: Canto Único Recortado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estilo de título Mestre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tângulo: Canto Único Recortado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pt-BR" noProof="0"/>
            </a:p>
          </p:txBody>
        </p:sp>
        <p:sp>
          <p:nvSpPr>
            <p:cNvPr id="3" name="Retângulo: Canto Único Recortado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20" name="Espaço Reservado para Conteúdo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365" y="1825625"/>
            <a:ext cx="11215235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estilo de título Mestre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tângulo: Canto Único Recortado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pt-BR" noProof="0"/>
            </a:p>
          </p:txBody>
        </p:sp>
        <p:sp>
          <p:nvSpPr>
            <p:cNvPr id="3" name="Retângulo: Canto Único Recortado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44500" y="1681163"/>
            <a:ext cx="5157787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6" name="Espaço Reservado para Texto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00812" y="1681163"/>
            <a:ext cx="5157788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4500" y="2505075"/>
            <a:ext cx="5157787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8" name="Espaço reservado para conteúdo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75412" y="2505075"/>
            <a:ext cx="5183188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estilo de título Mestre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tângulo: Canto Único Recortado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pt-BR" noProof="0"/>
            </a:p>
          </p:txBody>
        </p:sp>
        <p:sp>
          <p:nvSpPr>
            <p:cNvPr id="3" name="Retângulo: Canto Único Recortado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20" name="Espaço Reservado para Conteúdo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3365" y="1517715"/>
            <a:ext cx="5184437" cy="4659248"/>
          </a:xfrm>
        </p:spPr>
        <p:txBody>
          <a:bodyPr rtlCol="0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conteúdo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74163" y="1517715"/>
            <a:ext cx="5184437" cy="46592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a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estilo de título Mestre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tângulo: Canto Único Recortado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" name="Retângulo: Canto Único Recortado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20" name="Espaço Reservado para Imagem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1" name="Espaço Reservado para Imagem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2" name="Espaço Reservado para Imagem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3" name="Espaço Reservado para Imagem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4" name="Espaço Reservado para Imagem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6" name="Espaço Reservado para Texto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7" name="Espaço Reservado para Texto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8" name="Espaço Reservado para Texto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9" name="Espaço Reservado para Texto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0" name="Espaço Reservado para Texto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+ 3 Seçõe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estilo de título Mestre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tângulo: Canto Único Recortado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" name="Retângulo: Canto Único Recortado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26" name="Espaço Reservado para Texto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pt-BR" noProof="0"/>
              <a:t>Inserir imagem</a:t>
            </a:r>
          </a:p>
        </p:txBody>
      </p:sp>
      <p:sp>
        <p:nvSpPr>
          <p:cNvPr id="36" name="Espaço Reservado para Texto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7" name="Espaço Reservado para Texto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+ tex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estilo de título Mestre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tângulo: Canto Único Recortado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" name="Retângulo: Canto Único Recortado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26" name="Espaço Reservado para Texto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pt-BR" noProof="0"/>
              <a:t>Inserir imagem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estilo de título Mestre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tângulo: Canto Único Recortado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" name="Retângulo: Canto Único Recortado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20" name="Espaço Reservado para Imagem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1" name="Espaço Reservado para Texto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estilo de título Mestre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tângulo: Canto Único Recortado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3" name="Retângulo: Canto Único Recortado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21" name="Espaço Reservado para Texto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2" name="Espaço Reservado para Conteúdo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64290" y="1444649"/>
            <a:ext cx="7694310" cy="4579079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9" name="Forma livre: Forma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20" name="Forma livre: Forma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21" name="Forma livre: Forma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2" name="Forma livre: Forma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orma livre: Forma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26" name="Forma livre: Forma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30" name="Forma livre: Forma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1" name="Espaço Reservado para o Número do Slide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Triângulo Reto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8" name="Triângulo Reto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9" name="Triângulo Reto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pt-BR" noProof="0"/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pt-BR" noProof="0"/>
              <a:t>Obrigado</a:t>
            </a:r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263D6C4-4840-40CC-AC84-17E24B3B7BDE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7" name="Forma livre: Forma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8" name="Forma livre: Forma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noProof="0"/>
          </a:p>
        </p:txBody>
      </p:sp>
      <p:sp>
        <p:nvSpPr>
          <p:cNvPr id="9" name="Forma livre: Forma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Forma livre: Forma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t-BR" noProof="0">
                <a:latin typeface="+mj-lt"/>
              </a:rPr>
              <a:t>Clique para editar o estilo de título Mestre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orma livre: Forma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4" name="Forma livre: Forma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tângulo: Canto Único Recortado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pt-BR" noProof="0"/>
            </a:p>
          </p:txBody>
        </p:sp>
        <p:sp>
          <p:nvSpPr>
            <p:cNvPr id="17" name="Retângulo: Canto Único Recortado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18" name="Forma livre: Forma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4" r:id="rId7"/>
    <p:sldLayoutId id="2147483665" r:id="rId8"/>
    <p:sldLayoutId id="2147483673" r:id="rId9"/>
    <p:sldLayoutId id="2147483662" r:id="rId10"/>
    <p:sldLayoutId id="2147483663" r:id="rId11"/>
    <p:sldLayoutId id="2147483664" r:id="rId12"/>
    <p:sldLayoutId id="2147483675" r:id="rId13"/>
    <p:sldLayoutId id="2147483676" r:id="rId14"/>
    <p:sldLayoutId id="2147483672" r:id="rId15"/>
    <p:sldLayoutId id="2147483667" r:id="rId16"/>
    <p:sldLayoutId id="214748366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184" y="3244814"/>
            <a:ext cx="11448661" cy="1243584"/>
          </a:xfrm>
        </p:spPr>
        <p:txBody>
          <a:bodyPr rtlCol="0"/>
          <a:lstStyle/>
          <a:p>
            <a:pPr rtl="0"/>
            <a:r>
              <a:rPr lang="pt-BR" sz="5400" dirty="0"/>
              <a:t>      Projeto de Extensão: Validação       	  de Checklists Clínicos</a:t>
            </a:r>
            <a:br>
              <a:rPr lang="pt-BR" sz="5400" dirty="0"/>
            </a:br>
            <a:br>
              <a:rPr lang="pt-BR" sz="5400" dirty="0"/>
            </a:br>
            <a:r>
              <a:rPr lang="pt-BR" sz="5400" dirty="0"/>
              <a:t>Grupo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2352" y="4618653"/>
            <a:ext cx="9834466" cy="1763486"/>
          </a:xfrm>
        </p:spPr>
        <p:txBody>
          <a:bodyPr rtlCol="0">
            <a:normAutofit fontScale="85000" lnSpcReduction="20000"/>
          </a:bodyPr>
          <a:lstStyle/>
          <a:p>
            <a:pPr marL="0" indent="0" rtl="0">
              <a:buNone/>
            </a:pPr>
            <a:r>
              <a:rPr lang="pt-BR" dirty="0"/>
              <a:t>Matéria - Experiência Criativa: Criando Soluções Computacionais </a:t>
            </a:r>
          </a:p>
          <a:p>
            <a:pPr marL="0" indent="0" rtl="0">
              <a:buNone/>
            </a:pPr>
            <a:endParaRPr lang="pt-BR" dirty="0"/>
          </a:p>
          <a:p>
            <a:pPr marL="0" indent="0" rtl="0">
              <a:buNone/>
            </a:pPr>
            <a:r>
              <a:rPr lang="pt-BR" dirty="0"/>
              <a:t>Integrantes: </a:t>
            </a:r>
          </a:p>
          <a:p>
            <a:pPr marL="0" indent="0" rtl="0">
              <a:buNone/>
            </a:pPr>
            <a:r>
              <a:rPr lang="pt-BR" dirty="0"/>
              <a:t>Arthur Domingues      Carlos Eduardo </a:t>
            </a:r>
          </a:p>
          <a:p>
            <a:pPr marL="0" indent="0" rtl="0">
              <a:buNone/>
            </a:pPr>
            <a:r>
              <a:rPr lang="pt-BR" dirty="0"/>
              <a:t>Gabriel Souza           Rafael Brandão</a:t>
            </a:r>
          </a:p>
          <a:p>
            <a:pPr marL="0" indent="0" rtl="0">
              <a:buNone/>
            </a:pPr>
            <a:r>
              <a:rPr lang="pt-BR" dirty="0"/>
              <a:t>Ryan </a:t>
            </a:r>
            <a:r>
              <a:rPr lang="pt-BR" dirty="0" err="1"/>
              <a:t>Dalbelo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46" y="1021702"/>
            <a:ext cx="7781544" cy="859055"/>
          </a:xfrm>
        </p:spPr>
        <p:txBody>
          <a:bodyPr rtlCol="0"/>
          <a:lstStyle/>
          <a:p>
            <a:pPr rtl="0"/>
            <a:r>
              <a:rPr lang="pt-BR" dirty="0"/>
              <a:t>Problema </a:t>
            </a:r>
            <a:r>
              <a:rPr lang="pt-BR" dirty="0" err="1"/>
              <a:t>vs</a:t>
            </a:r>
            <a:r>
              <a:rPr lang="pt-BR" dirty="0"/>
              <a:t> Solução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69E6209-6829-9E42-C0A4-16482968B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646" y="2114317"/>
            <a:ext cx="9329187" cy="1151398"/>
          </a:xfrm>
        </p:spPr>
        <p:txBody>
          <a:bodyPr>
            <a:normAutofit/>
          </a:bodyPr>
          <a:lstStyle/>
          <a:p>
            <a:r>
              <a:rPr lang="pt-BR" b="1" dirty="0"/>
              <a:t>Problema: </a:t>
            </a:r>
            <a:r>
              <a:rPr lang="pt-BR" dirty="0"/>
              <a:t>A dificuldade de diagnóstico da Síndrome do X Frágil no Brasil, tendo testes confirmatórios caros e de acesso limitado, gerando subdiagnóstico e atraso no tratamento. </a:t>
            </a:r>
            <a:endParaRPr lang="pt-BR" b="1" dirty="0"/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3C3F5FD8-1739-5C25-C3BF-807939E71C23}"/>
              </a:ext>
            </a:extLst>
          </p:cNvPr>
          <p:cNvSpPr txBox="1">
            <a:spLocks/>
          </p:cNvSpPr>
          <p:nvPr/>
        </p:nvSpPr>
        <p:spPr>
          <a:xfrm>
            <a:off x="252450" y="4235476"/>
            <a:ext cx="9329187" cy="1151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US" sz="1600" kern="12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Solução: </a:t>
            </a:r>
            <a:r>
              <a:rPr lang="pt-BR" dirty="0"/>
              <a:t>Criação de um sistema web que digitalizasse esse processo: Cadastrando pacientes/responsáveis, preenchimento do checklist e cálculo automático do score e do encaminhamento.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9016741" cy="978729"/>
          </a:xfrm>
        </p:spPr>
        <p:txBody>
          <a:bodyPr rtlCol="0"/>
          <a:lstStyle/>
          <a:p>
            <a:pPr rtl="0"/>
            <a:r>
              <a:rPr lang="pt-BR" dirty="0"/>
              <a:t>Perfis de Usuário e Funcionamento e Funcionalidades Principais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97393"/>
            <a:ext cx="10957508" cy="4467505"/>
          </a:xfrm>
        </p:spPr>
        <p:txBody>
          <a:bodyPr rtlCol="0"/>
          <a:lstStyle/>
          <a:p>
            <a:pPr rtl="0"/>
            <a:r>
              <a:rPr lang="pt-BR" b="1" dirty="0"/>
              <a:t>Usuário de Saúde: </a:t>
            </a:r>
            <a:r>
              <a:rPr lang="pt-BR" dirty="0"/>
              <a:t>(médicos, enfermeiros), cadastram pacientes, responsáveis e preenchem os formulários; </a:t>
            </a:r>
            <a:r>
              <a:rPr lang="pt-BR" b="1" dirty="0"/>
              <a:t> </a:t>
            </a:r>
          </a:p>
          <a:p>
            <a:r>
              <a:rPr lang="pt-BR" b="1" dirty="0"/>
              <a:t>Administrador: </a:t>
            </a:r>
            <a:r>
              <a:rPr lang="pt-BR" dirty="0"/>
              <a:t>(médico-chefe/autoridade maior), gerencia todo o sistema, tendo acesso a edições, exclusões e logs de autoria. </a:t>
            </a:r>
            <a:endParaRPr lang="pt-BR" b="1" dirty="0"/>
          </a:p>
          <a:p>
            <a:pPr marL="0" indent="0" rtl="0">
              <a:buNone/>
            </a:pPr>
            <a:endParaRPr lang="pt-BR" b="1" dirty="0"/>
          </a:p>
          <a:p>
            <a:pPr marL="0" indent="0" rtl="0">
              <a:buNone/>
            </a:pPr>
            <a:r>
              <a:rPr lang="pt-BR" b="1" dirty="0"/>
              <a:t>Como Funciona? </a:t>
            </a:r>
          </a:p>
          <a:p>
            <a:r>
              <a:rPr lang="pt-BR" dirty="0"/>
              <a:t>Administrador entra no sistema </a:t>
            </a:r>
            <a:r>
              <a:rPr lang="pt-BR" dirty="0">
                <a:sym typeface="Wingdings" panose="05000000000000000000" pitchFamily="2" charset="2"/>
              </a:rPr>
              <a:t> Cadastra um usuário de saúde novo  Usuário de saúde criado acessa o sistema  cadastra um paciente e responsável novo  preenche o formulário e salva  acessa os resultados e verifica se precisa ou não encaminhar para teste confirmatório  </a:t>
            </a:r>
          </a:p>
          <a:p>
            <a:endParaRPr lang="pt-B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t-BR" b="1" dirty="0">
                <a:sym typeface="Wingdings" panose="05000000000000000000" pitchFamily="2" charset="2"/>
              </a:rPr>
              <a:t>Funcionalidades Principais </a:t>
            </a:r>
          </a:p>
          <a:p>
            <a:r>
              <a:rPr lang="pt-BR" dirty="0">
                <a:sym typeface="Wingdings" panose="05000000000000000000" pitchFamily="2" charset="2"/>
              </a:rPr>
              <a:t>Usuários de Saúde tem acesso para visualizar e editar apenas aos próprios pacientes, formulários e resultados. </a:t>
            </a:r>
          </a:p>
          <a:p>
            <a:r>
              <a:rPr lang="pt-BR" dirty="0">
                <a:sym typeface="Wingdings" panose="05000000000000000000" pitchFamily="2" charset="2"/>
              </a:rPr>
              <a:t>O administrador tem acesso a visualizar, editar e excluir todos usuários de saúde, pacientes, responsáveis, formulários e resultados do sistema.</a:t>
            </a:r>
          </a:p>
          <a:p>
            <a:r>
              <a:rPr lang="pt-BR" dirty="0">
                <a:sym typeface="Wingdings" panose="05000000000000000000" pitchFamily="2" charset="2"/>
              </a:rPr>
              <a:t>O administrador tem acesso a todas as mudanças feitas em dados de usuários, pacientes, responsáveis e formulários.</a:t>
            </a:r>
          </a:p>
          <a:p>
            <a:endParaRPr lang="pt-BR" dirty="0">
              <a:sym typeface="Wingdings" panose="05000000000000000000" pitchFamily="2" charset="2"/>
            </a:endParaRPr>
          </a:p>
          <a:p>
            <a:endParaRPr lang="pt-BR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pt-BR" smtClean="0"/>
              <a:pPr rtl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rtlCol="0" anchor="t">
            <a:normAutofit/>
          </a:bodyPr>
          <a:lstStyle/>
          <a:p>
            <a:pPr rtl="0"/>
            <a:r>
              <a:rPr lang="pt-BR" dirty="0"/>
              <a:t>Fluxo de Telas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C263D6C4-4840-40CC-AC84-17E24B3B7BDE}" type="slidenum">
              <a:rPr lang="pt-BR" smtClean="0"/>
              <a:pPr rtl="0">
                <a:spcAft>
                  <a:spcPts val="600"/>
                </a:spcAft>
              </a:pPr>
              <a:t>4</a:t>
            </a:fld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AECBDA6-0663-CE3E-1793-2E8DCFB2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098" y="1327535"/>
            <a:ext cx="9069074" cy="51013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7E445-59E2-3CD6-B200-BF1BA5F7B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9323AFC-6069-65D5-CD17-9A83435E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72" y="309660"/>
            <a:ext cx="11214100" cy="978729"/>
          </a:xfrm>
        </p:spPr>
        <p:txBody>
          <a:bodyPr rtlCol="0"/>
          <a:lstStyle/>
          <a:p>
            <a:pPr rtl="0"/>
            <a:r>
              <a:rPr lang="pt-BR" dirty="0"/>
              <a:t>Tela de Login, dashboard e conta do Usuário da Saúde</a:t>
            </a:r>
            <a:br>
              <a:rPr lang="pt-BR" dirty="0"/>
            </a:br>
            <a:endParaRPr lang="pt-BR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D4C95A3D-5663-6CDD-4F45-E9C1380D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pt-BR" smtClean="0"/>
              <a:pPr rtl="0"/>
              <a:t>5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8EFF009-1A3C-0346-E4AE-C09F8E8C9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04" y="995799"/>
            <a:ext cx="5470289" cy="290912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2A07CCE-13C0-7505-0CBF-12ABBF82D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51" y="999989"/>
            <a:ext cx="5470290" cy="29049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B5C0C0F-F64F-7FFF-19CB-86CE912AA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595" y="4068148"/>
            <a:ext cx="5047205" cy="268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66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30AEF-40F8-9117-6DC3-E34309333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87BECD2-9AD9-756C-41ED-29308F855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72" y="309660"/>
            <a:ext cx="11214100" cy="978729"/>
          </a:xfrm>
        </p:spPr>
        <p:txBody>
          <a:bodyPr rtlCol="0"/>
          <a:lstStyle/>
          <a:p>
            <a:pPr rtl="0"/>
            <a:r>
              <a:rPr lang="pt-BR" dirty="0"/>
              <a:t>Tela de cadastros de Paciente e Responsável</a:t>
            </a:r>
            <a:br>
              <a:rPr lang="pt-BR" dirty="0"/>
            </a:br>
            <a:endParaRPr lang="pt-BR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A5CC2894-87A4-07E1-8595-E0AFD006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pt-BR" smtClean="0"/>
              <a:pPr rtl="0"/>
              <a:t>6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DCF4CB-ECA3-E117-E9B6-E476E0C88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37" y="1009948"/>
            <a:ext cx="5507906" cy="264298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94CD722-3FA2-7B94-B917-C50349BDC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367" y="935304"/>
            <a:ext cx="5548850" cy="279178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6351F01-12B6-723F-939E-20987C30A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437" y="3840430"/>
            <a:ext cx="5454233" cy="270144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CC0E15E-A971-04AB-1EDB-118A4B3688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367" y="3890753"/>
            <a:ext cx="5454233" cy="27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CB358-9943-17CF-E986-F039814B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6874BB3-A19B-0536-EFF9-DE1A440C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72" y="309660"/>
            <a:ext cx="11214100" cy="978729"/>
          </a:xfrm>
        </p:spPr>
        <p:txBody>
          <a:bodyPr rtlCol="0"/>
          <a:lstStyle/>
          <a:p>
            <a:pPr rtl="0"/>
            <a:r>
              <a:rPr lang="pt-BR" dirty="0"/>
              <a:t>Tela do Formulário e Resultado</a:t>
            </a:r>
            <a:br>
              <a:rPr lang="pt-BR" dirty="0"/>
            </a:br>
            <a:endParaRPr lang="pt-BR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2D9A327B-A08B-2701-49F8-3C0E5B98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pt-BR" smtClean="0"/>
              <a:pPr rtl="0"/>
              <a:t>7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0235648-A0FE-9FFD-69E5-0F3A778B8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87" y="924448"/>
            <a:ext cx="5552774" cy="295298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2DB0186-6277-A7DB-86AF-0D603E5B0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859" y="719532"/>
            <a:ext cx="5721269" cy="304557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A5F6090-10AE-8179-1D2A-B5DE40990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872" y="4040155"/>
            <a:ext cx="5491982" cy="264004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9E555507-07FB-E81F-B5E0-060C4F860C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138" y="3981552"/>
            <a:ext cx="5184710" cy="275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2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6C61A-7A25-3933-6797-F0D2F5877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4A141A1-7E0E-4287-9DE3-4DE900B83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72" y="309660"/>
            <a:ext cx="11214100" cy="978729"/>
          </a:xfrm>
        </p:spPr>
        <p:txBody>
          <a:bodyPr rtlCol="0"/>
          <a:lstStyle/>
          <a:p>
            <a:pPr rtl="0"/>
            <a:r>
              <a:rPr lang="pt-BR" dirty="0"/>
              <a:t>Tela do Administrador</a:t>
            </a:r>
            <a:br>
              <a:rPr lang="pt-BR" dirty="0"/>
            </a:br>
            <a:endParaRPr lang="pt-BR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8094C289-61C8-3589-3FD8-A564F20E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pt-BR" smtClean="0"/>
              <a:pPr rtl="0"/>
              <a:t>8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1117D7-1301-721A-94DE-EE69C2058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3" y="833395"/>
            <a:ext cx="5736322" cy="305059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5E27499-19BC-F82C-508E-EB1C1A22A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194" y="574343"/>
            <a:ext cx="6052553" cy="30506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4D02BB4-EFE7-9345-DD62-400941F01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759" y="4155191"/>
            <a:ext cx="5039474" cy="252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9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B7C2-3F8E-CAD9-7F40-CA794BD8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41CD053-92FF-C123-F7F6-2C2474051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71" y="309660"/>
            <a:ext cx="11682185" cy="978729"/>
          </a:xfrm>
        </p:spPr>
        <p:txBody>
          <a:bodyPr rtlCol="0"/>
          <a:lstStyle/>
          <a:p>
            <a:pPr rtl="0"/>
            <a:r>
              <a:rPr lang="pt-BR" dirty="0"/>
              <a:t>Tela de cadastro de Usuário de Saúde, Paciente e Responsável</a:t>
            </a:r>
            <a:br>
              <a:rPr lang="pt-BR" dirty="0"/>
            </a:br>
            <a:endParaRPr lang="pt-BR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C1AAC6AB-A00E-B0A4-C19E-C326ABDA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pt-BR" smtClean="0"/>
              <a:pPr rtl="0"/>
              <a:t>9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5D4BC33-7260-2C05-AC62-9EC9698D6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06" y="963271"/>
            <a:ext cx="5983394" cy="288379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CEDF7E7-C623-9BFD-A00D-C1B858928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783" y="909918"/>
            <a:ext cx="5539273" cy="293714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AF35471-C9A8-E4E1-ACBC-239EA8261B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871" y="4137912"/>
            <a:ext cx="4895461" cy="259832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661C7B8-2EE4-5386-F3F8-75B21DD5A0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783" y="4088009"/>
            <a:ext cx="5036995" cy="266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7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86"/>
            <a:ext cx="8228171" cy="1243584"/>
          </a:xfrm>
        </p:spPr>
        <p:txBody>
          <a:bodyPr rtlCol="0"/>
          <a:lstStyle/>
          <a:p>
            <a:pPr rtl="0"/>
            <a:r>
              <a:rPr lang="pt-BR" dirty="0"/>
              <a:t>    Vídeo demonstrativo </a:t>
            </a:r>
            <a:br>
              <a:rPr lang="pt-BR" sz="7200" dirty="0"/>
            </a:br>
            <a:br>
              <a:rPr lang="pt-BR" sz="7200" dirty="0"/>
            </a:br>
            <a:endParaRPr lang="pt-BR" sz="7200" dirty="0"/>
          </a:p>
        </p:txBody>
      </p:sp>
      <p:pic>
        <p:nvPicPr>
          <p:cNvPr id="3" name="WhatsApp Video 2026-06-14 at 16.03.25">
            <a:hlinkClick r:id="" action="ppaction://media"/>
            <a:extLst>
              <a:ext uri="{FF2B5EF4-FFF2-40B4-BE49-F238E27FC236}">
                <a16:creationId xmlns:a16="http://schemas.microsoft.com/office/drawing/2014/main" id="{FF4A0D4F-63A3-3B85-276D-1E8B088531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8125" y="941086"/>
            <a:ext cx="10184006" cy="567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81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E2F5C-A223-BF9A-6A4D-1D270DF0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CB88AF-DFF1-1A01-12D3-C314B0FA1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8131" y="4402743"/>
            <a:ext cx="4945598" cy="1243584"/>
          </a:xfrm>
        </p:spPr>
        <p:txBody>
          <a:bodyPr rtlCol="0"/>
          <a:lstStyle/>
          <a:p>
            <a:pPr rtl="0"/>
            <a:r>
              <a:rPr lang="pt-BR" sz="7200" dirty="0"/>
              <a:t>    FIM</a:t>
            </a:r>
            <a:br>
              <a:rPr lang="pt-BR" sz="7200" dirty="0"/>
            </a:br>
            <a:br>
              <a:rPr lang="pt-BR" sz="7200" dirty="0"/>
            </a:b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64359048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o 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372_TF66687569.potx  -  Recuperado" id="{1392B681-13AB-44F3-A748-E185430A569F}" vid="{5F4E28AB-31AB-45D2-B7CE-4ED41B42B53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B67ACAB-C3DC-429D-A23C-0723C084F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95DE24-D6C3-4A00-9085-D9594C193A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992231-163D-4428-A2B8-DA1FE0274129}">
  <ds:schemaRefs>
    <ds:schemaRef ds:uri="http://schemas.microsoft.com/office/2006/metadata/properties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6dc4bcd6-49db-4c07-9060-8acfc67cef9f"/>
    <ds:schemaRef ds:uri="http://schemas.microsoft.com/office/2006/documentManagement/types"/>
    <ds:schemaRef ds:uri="http://schemas.microsoft.com/office/infopath/2007/PartnerControls"/>
    <ds:schemaRef ds:uri="http://purl.org/dc/terms/"/>
    <ds:schemaRef ds:uri="fb0879af-3eba-417a-a55a-ffe6dcd6ca7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azul moderna</Template>
  <TotalTime>140</TotalTime>
  <Words>334</Words>
  <Application>Microsoft Office PowerPoint</Application>
  <PresentationFormat>Widescreen</PresentationFormat>
  <Paragraphs>48</Paragraphs>
  <Slides>11</Slides>
  <Notes>11</Notes>
  <HiddenSlides>0</HiddenSlides>
  <MMClips>1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Trade Gothic LT Pro</vt:lpstr>
      <vt:lpstr>Trebuchet MS</vt:lpstr>
      <vt:lpstr>Wingdings</vt:lpstr>
      <vt:lpstr>Tema do Office</vt:lpstr>
      <vt:lpstr>      Projeto de Extensão: Validação          de Checklists Clínicos  Grupo 3</vt:lpstr>
      <vt:lpstr>Problema vs Solução</vt:lpstr>
      <vt:lpstr>Perfis de Usuário e Funcionamento e Funcionalidades Principais</vt:lpstr>
      <vt:lpstr>Fluxo de Telas</vt:lpstr>
      <vt:lpstr>Tela de Login, dashboard e conta do Usuário da Saúde </vt:lpstr>
      <vt:lpstr>Tela de cadastros de Paciente e Responsável </vt:lpstr>
      <vt:lpstr>Tela do Formulário e Resultado </vt:lpstr>
      <vt:lpstr>Tela do Administrador </vt:lpstr>
      <vt:lpstr>Tela de cadastro de Usuário de Saúde, Paciente e Responsável </vt:lpstr>
      <vt:lpstr>    Vídeo demonstrativo   </vt:lpstr>
      <vt:lpstr>    FIM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de Freitas Brandao</dc:creator>
  <cp:lastModifiedBy>Rafael de Freitas Brandao</cp:lastModifiedBy>
  <cp:revision>2</cp:revision>
  <dcterms:created xsi:type="dcterms:W3CDTF">2026-06-14T15:27:36Z</dcterms:created>
  <dcterms:modified xsi:type="dcterms:W3CDTF">2026-06-15T20:59:35Z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